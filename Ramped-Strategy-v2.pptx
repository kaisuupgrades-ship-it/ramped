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41248"/>
            <a:ext cx="164592" cy="246888"/>
          </a:xfrm>
          <a:prstGeom prst="rect">
            <a:avLst/>
          </a:prstGeom>
          <a:solidFill>
            <a:srgbClr val="1F4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731520"/>
            <a:ext cx="164592" cy="356616"/>
          </a:xfrm>
          <a:prstGeom prst="rect">
            <a:avLst/>
          </a:prstGeom>
          <a:solidFill>
            <a:srgbClr val="1F4FF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640080"/>
            <a:ext cx="164592" cy="448056"/>
          </a:xfrm>
          <a:prstGeom prst="rect">
            <a:avLst/>
          </a:prstGeom>
          <a:solidFill>
            <a:srgbClr val="1F4FFF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548640"/>
            <a:ext cx="164592" cy="539496"/>
          </a:xfrm>
          <a:prstGeom prst="rect">
            <a:avLst/>
          </a:prstGeom>
          <a:solidFill>
            <a:srgbClr val="1F4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594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65615" y="64008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B45309">
              <a:alpha val="2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65615" y="640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GO-LIVE GUARANTEE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D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 ·  COMPETITIVE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department,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30 days.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 v2 · 2026-04-29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at commit c87ffa1 · post-deploy of Phase 1+2+3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D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sells the only thing AI tools can't:
</a:t>
            </a:r>
            <a:pPr indent="0" marL="0">
              <a:buNone/>
            </a:pPr>
            <a:r>
              <a:rPr lang="en-US" sz="38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certainty that someone else owns the outcome.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everything else around that.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RAMPED SELLS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SKUs. One promise. Mid-market done-for-you.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DC"/>
            </a:solidFill>
            <a:prstDash val="solid"/>
          </a:ln>
          <a:effectLst>
            <a:outerShdw sx="100000" sy="100000" kx="0" ky="0" algn="bl" rotWithShape="0" blurRad="228600" dist="50800" dir="5400000">
              <a:srgbClr val="0B122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15258" cy="91440"/>
          </a:xfrm>
          <a:prstGeom prst="rect">
            <a:avLst/>
          </a:prstGeom>
          <a:solidFill>
            <a:srgbClr val="5B62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$2,500/mo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$2,083/mo billed annually · save $5,000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$2,500 onboarding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966618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agents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live in 30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support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1691640"/>
            <a:ext cx="3515258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FF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22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8218" y="1691640"/>
            <a:ext cx="3515258" cy="91440"/>
          </a:xfrm>
          <a:prstGeom prst="rect">
            <a:avLst/>
          </a:prstGeom>
          <a:solidFill>
            <a:srgbClr val="1F4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1877" y="13990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81877" y="1399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2538" y="20116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2538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$5,000/mo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2538" y="31089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$4,167/mo billed annually · save $10,000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2538" y="338328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$3,500 onboarding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2538" y="3749040"/>
            <a:ext cx="2966618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538" y="388620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agents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live in 30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queue + portal access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7797" y="1691640"/>
            <a:ext cx="351525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DC"/>
            </a:solidFill>
            <a:prstDash val="solid"/>
          </a:ln>
          <a:effectLst>
            <a:outerShdw sx="100000" sy="100000" kx="0" ky="0" algn="bl" rotWithShape="0" blurRad="228600" dist="50800" dir="5400000">
              <a:srgbClr val="0B122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7797" y="1691640"/>
            <a:ext cx="3515258" cy="914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20116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02117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$10K/mo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402117" y="31089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on call · custom SLA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02117" y="338328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scoped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02117" y="3749040"/>
            <a:ext cx="2966618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02117" y="388620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implementation lead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VPC option (roadmap)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SOC 2 in progress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FFBE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go-live guarantee — full refund if your first agent isn't live by day 30.</a:t>
            </a:r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fine print. No partial payments.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cash profile. The leverage is in templating.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$53,500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ACV (Growth annual)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 prepaid + onboarding · paid in 14 days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2538" y="2057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12538" y="28346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(templated)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2538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to 25–40% if every customer is bespoke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7797" y="18288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2117" y="2057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02117" y="28346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Time-to-deliver (the promise)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2117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· drives ops cadence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≈14 days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Time-to-cash (annual)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booking to invoice paid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8218" y="38862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538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/ yr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12538" y="4892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AI-app retention benchmark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2538" y="5166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31% non-AI · done-for-you must beat materially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7797" y="3886200"/>
            <a:ext cx="3515258" cy="1783080"/>
          </a:xfrm>
          <a:prstGeom prst="rect">
            <a:avLst/>
          </a:prstGeom>
          <a:solidFill>
            <a:srgbClr val="FAFAF7"/>
          </a:solidFill>
          <a:ln w="9525">
            <a:solidFill>
              <a:srgbClr val="E6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2117" y="41148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402117" y="4892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 target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02117" y="5166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tail-risk metric · publish once stable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reuse &gt; headcount: the 4th deployment of "Inbound Quote Drafter" should take ¼ the time of the 1st.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vs self-serve · 10 players + 2 substrate threats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31720"/>
                <a:gridCol w="1417320"/>
                <a:gridCol w="2194560"/>
                <a:gridCol w="3456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4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Ramped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4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Done-for-you · retainer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4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4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refund ✓ unique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4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Lindy.ai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·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substitute · 1/12 the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Gumloop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· workflow builder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· prosumer drag-drop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 AI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· add-on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$33+ on top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for existing Zapier 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· Slack-native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positioning rival; cheaper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WhiteHorse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Done-for-you · perf-priced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appt.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only when it 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risk reversal · sales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GoHighLevel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Agency-resold ·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 + $97/mo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vertical via agencies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Adept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(Amazon-acquired Jun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Defunct as standalone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SmythOS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· on-prem 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 · dev-focused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Agency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Done-for-you · low-end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guarantee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mass-market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SMB Solutions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Done-for-you · consulting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hrs claim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promise · less productized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Cowork / ChatGPT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· self-serve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$20–200/mo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threat — they sell software, you sell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band: Ramped sits above every self-serve tool ($30–200/mo) and below custom AI engagements ($30K–100K upfront).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VS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done-for-you / mid-market quadrant is empty except Ramped.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2606040"/>
            <a:ext cx="9265615" cy="3337560"/>
          </a:xfrm>
          <a:prstGeom prst="rect">
            <a:avLst/>
          </a:prstGeom>
          <a:solidFill>
            <a:srgbClr val="FAFAF7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048" y="2606040"/>
            <a:ext cx="0" cy="333756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4274820"/>
            <a:ext cx="9265615" cy="0"/>
          </a:xfrm>
          <a:prstGeom prst="line">
            <a:avLst/>
          </a:prstGeom>
          <a:noFill/>
          <a:ln w="9525">
            <a:solidFill>
              <a:srgbClr val="E6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221992"/>
            <a:ext cx="9265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6016752"/>
            <a:ext cx="9265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SELF-SERVE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spc="2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($1M+)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spc="200" kern="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(SMB / solo)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35928" y="2788920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94845" y="3072384"/>
            <a:ext cx="402336" cy="402336"/>
          </a:xfrm>
          <a:prstGeom prst="ellipse">
            <a:avLst/>
          </a:prstGeom>
          <a:solidFill>
            <a:srgbClr val="1F4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4645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9404" y="3813048"/>
            <a:ext cx="256032" cy="256032"/>
          </a:xfrm>
          <a:prstGeom prst="ellipse">
            <a:avLst/>
          </a:prstGeom>
          <a:solidFill>
            <a:srgbClr val="0B1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9204" y="3776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WhiteHorse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04716" y="4313682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4516" y="427710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SMB Solutions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353166" y="5017770"/>
            <a:ext cx="182880" cy="182880"/>
          </a:xfrm>
          <a:prstGeom prst="ellipse">
            <a:avLst/>
          </a:prstGeom>
          <a:solidFill>
            <a:srgbClr val="B9BFC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2966" y="494461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Adept (defunct)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8155" y="5081321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7955" y="504474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Agency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36905" y="5348326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36705" y="531175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1909" y="3479292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661" y="34427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AI Agents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30659" y="3979926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2411" y="394335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SmythOS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45347" y="5081321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7099" y="504474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Lindy.ai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82066" y="5348326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18" y="531175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7221" y="4547311"/>
            <a:ext cx="256032" cy="256032"/>
          </a:xfrm>
          <a:prstGeom prst="ellipse">
            <a:avLst/>
          </a:prstGeom>
          <a:solidFill>
            <a:srgbClr val="5B62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8973" y="451073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29873" y="4295394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9057" y="420395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/ ChatGPT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Claude Cowork + ChatGPT Agent commoditize the substrate. Compete on outcome + accountability, not the agent itself.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· STRENGTHS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defensible — keep doing this.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0F7A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+ money-back guarantee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refund is the only falsifiable risk reversal in the matrix. Closest analogue: Stripe's 'no lost checkout' guarantee.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6338" y="2011680"/>
            <a:ext cx="411480" cy="411480"/>
          </a:xfrm>
          <a:prstGeom prst="ellipse">
            <a:avLst/>
          </a:prstGeom>
          <a:solidFill>
            <a:srgbClr val="0F7A4B"/>
          </a:solidFill>
          <a:ln/>
        </p:spPr>
      </p:sp>
      <p:sp>
        <p:nvSpPr>
          <p:cNvPr id="11" name="Text 9"/>
          <p:cNvSpPr/>
          <p:nvPr/>
        </p:nvSpPr>
        <p:spPr>
          <a:xfrm>
            <a:off x="4536338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84978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transparent pricing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6338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done-for-you peers, Ramped is the only one with public monthly tier pricing. Removes a discovery-call friction step.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837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5437" y="2011680"/>
            <a:ext cx="411480" cy="411480"/>
          </a:xfrm>
          <a:prstGeom prst="ellipse">
            <a:avLst/>
          </a:prstGeom>
          <a:solidFill>
            <a:srgbClr val="0F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95437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44077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product surface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95437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(post-Phase 1+2 hardening), phase indicator, draft approvals, weekly digest. Retention engineering most $5K/mo agencies don't have.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8189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56789" y="4023360"/>
            <a:ext cx="411480" cy="411480"/>
          </a:xfrm>
          <a:prstGeom prst="ellipse">
            <a:avLst/>
          </a:prstGeom>
          <a:solidFill>
            <a:srgbClr val="0F7A4B"/>
          </a:solidFill>
          <a:ln/>
        </p:spPr>
      </p:sp>
      <p:sp>
        <p:nvSpPr>
          <p:cNvPr id="21" name="Text 19"/>
          <p:cNvSpPr/>
          <p:nvPr/>
        </p:nvSpPr>
        <p:spPr>
          <a:xfrm>
            <a:off x="2656789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5429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Operator-narrative founder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6789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Yoon (10-yr operator at Xtractor Depot, supplied SpaceX/Lucid Motors) matches the buyer (CEO/operator) better than 'ex-FAANG engineer.'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7288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5888" y="4023360"/>
            <a:ext cx="411480" cy="411480"/>
          </a:xfrm>
          <a:prstGeom prst="ellipse">
            <a:avLst/>
          </a:prstGeom>
          <a:solidFill>
            <a:srgbClr val="0F7A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1588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4528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audit + delivery muscle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5888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v1+v2 audits, Playwright suite, RLS-hardened DB, signed-token auth. Compounds. Most $5K/mo agencies don't have this.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· WEAKNESSES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defensible yet — fix in priority order.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Single-customer social proof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quote (Xtractor Depot) with three 'Verified' chips. At $30K+ ACV, sharp CFOs ask for references.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6338" y="20116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36338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84978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claims aren't backed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6338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industries pilled; 1 shipped (industrial supply). Risk if a prospect's industry is on the list.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837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5437" y="20116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95437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44077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95437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V2-B6 added a CSS overlay. Real video or sandbox would 2–3× hero conversion.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department' is unowned naming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Lindy: 'AI assistants.' Viktor: 'AI coworkers.' HighLevel: 'AI Employees.' Wrap it in something proprietary by Q3.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7738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6338" y="40233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3633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84978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Refund-rate is binary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36338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refund tweet erodes the central commitment. Operationally the #1 metric to watch.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6837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5437" y="40233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295437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44077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is read-mostly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95437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approve drafts; can't configure agents. Indispensability ↑ retention, but bad SaaS-multiple optics.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· 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next 12 months of growth lives.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specialization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 verticals (industrial supply + dental/field svc). Per-vertical landing page should triple conversion vs generic /book.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6338" y="201168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36338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84978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Productized add-ons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6338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$497 'AI Health Check' audit, free 'starter agent recipe' library. Bridges the $0–$2,500 price gap.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837" y="178308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5437" y="201168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95437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44077" y="196596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Second-customer flywheel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95437" y="256032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next 3 wins for named testimonials, photographed logos, ≥1 video. Replace placeholder customer-strip logos as they ship.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'Ramp Index'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anonymized benchmark report. Inbound SEO + earned media engine. Wait until n≥10.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7738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6338" y="402336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3633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84978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channel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36338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playbook to a regional MSP / accounting firm. Low CAC, high margin. Wait for n=10 + senior IM.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6837" y="3794760"/>
            <a:ext cx="357621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5437" y="4023360"/>
            <a:ext cx="411480" cy="41148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95437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44077" y="3977640"/>
            <a:ext cx="2616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'0 of N refunded' counter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95437" y="4572000"/>
            <a:ext cx="3164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true and ratio stable, publish prominently. A marketing weapon Lindy can never match.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· THREATS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closely. Two are existential.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2194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commoditization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+ ChatGPT Agent + OpenAI Codex Background Computer Use launched 2025–26 at $20–200/mo. They sell software; you sell outcomes + accountability. Re-emphasize human-managed angle.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41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1783080"/>
            <a:ext cx="91440" cy="2194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10248" y="20116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 narrow the gap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7328" y="265176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 + Gumloop visibly better month-over-month. Buyer who needed Ramped 12 mo ago can now spend 4 hrs in Lindy. Question: do they want to spend those 4 hrs?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41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51960"/>
            <a:ext cx="91440" cy="2194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25880" y="448056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AI-app retention crisis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AI products retain 30% worse than non-AI year-1 (21% vs 31% annual). Done-for-you is best structural defense — but only if outcome metrics are visible monthly.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251960"/>
            <a:ext cx="54100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3008" y="4251960"/>
            <a:ext cx="91440" cy="2194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10248" y="448056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bandwidth cliff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7328" y="512064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does every discovery call. ~6–8 calls/week × 25% close = 8 customers/month max. Hire #1 = senior implementation manager by end of Q2.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TESTS TO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works. What I'd test. What I would NOT change.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943600"/>
                <a:gridCol w="1307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"Try It" tier at $497/mo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agent, no onboarding, deployed in 14 days. Catches buyers who can't justify $2.5K. Upsell to Starter at month 3.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Starter to $1,997/mo 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materially below the psychological $2K barrier. Marginal revenue loss; meaningful conversion lift.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onboarding into first month for annual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buyers commit — don't make them feel double-charged. "$25K/yr includes setup" is cleaner.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Pro tier at $3,500/mo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$2.5K → $5K is steep. Middle tier captures Starter-outgrowers without forcing Growth's volume.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Enterprise floor: "from $10K/mo"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"Custom" reads as "we'll figure it out." A floor primes anchoring + signals seriousness.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Refund-rate counter (when ≥30 customers ·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commitment-device evidence. Marketing weapon Lindy can't match.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(data-gated)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solidFill>
            <a:srgbClr val="FFFBE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CHANGE:  </a:t>
            </a:r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$5K/mo Growth ceiling · the 30-day guarantee window (don't extend or shorten) · the flat-monthly framing (per-seat fights the 'you don't manage it' message).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fixes mapped to competitor moves.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383280"/>
                <a:gridCol w="4599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"Why not Lindy / Zapier / Gumloop?"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covers VA-vs-AI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Tab 2 to /comparison: 3 reasons buyers pay 30× more for done-for-you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/ security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SOC 2 (in progress) + sub-processors to footer; start Type 1 by Q3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proof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industries listed; 1 shipped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2 verticals; build 1-page landing each; drop unbacked industries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commitment as a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as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data supports it: "Refunded 0 of N customers since [date]" hero stat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consideration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 floor; no free 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"$0 — see what we'd build" personalized roadmap as marketing asset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credibility above-fold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Andrew Yoon line present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SpaceX/Lucid claim; add proof line if real, soften if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Business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advertised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QBR a Growth-tier benefit. Frames renewal around outcomes, not invoice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Sequenced. Reversible. Compound.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594360"/>
          </a:xfrm>
          <a:prstGeom prst="rect">
            <a:avLst/>
          </a:prstGeom>
          <a:solidFill>
            <a:srgbClr val="1F4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12264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&lt;3 hrs each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1525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60320"/>
            <a:ext cx="274320" cy="27432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52374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 2 to /comparison: vs DIY tools (Lindy, Zapier, Gumloop)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274320" cy="27432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30098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industry pill list 8 → 2–3 verticals you can 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274320" cy="27432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407822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30-day guarantee from chip → hero co-equal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892040"/>
            <a:ext cx="274320" cy="27432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85546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Enterprise floor: "from $10K/mo · scoped on call"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669280"/>
            <a:ext cx="274320" cy="274320"/>
          </a:xfrm>
          <a:prstGeom prst="ellipse">
            <a:avLst/>
          </a:prstGeom>
          <a:solidFill>
            <a:srgbClr val="1F4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63270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SpaceX/Lucid claim once and for 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38218" y="1783080"/>
            <a:ext cx="3515258" cy="5943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66818" y="182880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66818" y="2112264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moves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8218" y="2377440"/>
            <a:ext cx="351525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6818" y="2560320"/>
            <a:ext cx="274320" cy="2743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6681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2578" y="252374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2 named testimonials (target 2026-05-29)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66818" y="3337560"/>
            <a:ext cx="274320" cy="2743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456681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2578" y="330098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vertical landing page (e.g. /industrial-supply)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66818" y="4114800"/>
            <a:ext cx="274320" cy="2743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66818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2578" y="407822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"real demo" video on hero (60-sec Loom or screencast)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66818" y="4892040"/>
            <a:ext cx="274320" cy="2743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7" name="Text 35"/>
          <p:cNvSpPr/>
          <p:nvPr/>
        </p:nvSpPr>
        <p:spPr>
          <a:xfrm>
            <a:off x="4566818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2578" y="485546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questionnaire as standalone lead magnet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66818" y="5669280"/>
            <a:ext cx="274320" cy="27432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40" name="Text 38"/>
          <p:cNvSpPr/>
          <p:nvPr/>
        </p:nvSpPr>
        <p:spPr>
          <a:xfrm>
            <a:off x="4566818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2578" y="563270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SOC 2 Type 1 (Vanta / Drata)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27797" y="1783080"/>
            <a:ext cx="3515258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3" name="Text 41"/>
          <p:cNvSpPr/>
          <p:nvPr/>
        </p:nvSpPr>
        <p:spPr>
          <a:xfrm>
            <a:off x="8356397" y="182880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356397" y="2112264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moves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27797" y="2377440"/>
            <a:ext cx="351525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6397" y="256032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7" name="Text 45"/>
          <p:cNvSpPr/>
          <p:nvPr/>
        </p:nvSpPr>
        <p:spPr>
          <a:xfrm>
            <a:off x="8356397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22157" y="252374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Hire #1: Senior Implementation Manager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56397" y="333756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8356397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722157" y="330098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vertical playbooks (templated build process)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356397" y="411480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8356397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22157" y="407822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"Ramp Index" benchmark report (post n≥10)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356397" y="489204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6" name="Text 54"/>
          <p:cNvSpPr/>
          <p:nvPr/>
        </p:nvSpPr>
        <p:spPr>
          <a:xfrm>
            <a:off x="8356397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722157" y="485546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Refund-rate dashboard (internal → public when stable)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56397" y="566928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9" name="Text 57"/>
          <p:cNvSpPr/>
          <p:nvPr/>
        </p:nvSpPr>
        <p:spPr>
          <a:xfrm>
            <a:off x="8356397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722157" y="5632704"/>
            <a:ext cx="2738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$497 "AI Health Check" SKU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Single highest-leverage move: hire #1 unblocks the founder bottleneck. Without it, Ramped is capped at ~10 active customers.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10-row weekly view. Most fields already in Supabase.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customer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progression · vanity but motivating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bookings.payment_status = subscription_active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on-time delivery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brand-defining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bookings.go_live_at ≤ datetime + 30d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Tail-risk metric · brand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events / new bookings.refunded_at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time-to-first-agent-live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velocity; should improve as playbooks 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agent.created_at + first agent_runs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saved / customer /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Customer-success metric · the renewal narrative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from agent_runs.hours_saved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Discovery-call → booking conv.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Top-funnel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Stripe-paid / booked discovery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→ questionnaire-completed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Mid-funnel · if low, questionnaire is friction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with non-null questionnaire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Roadmap-emailed → booking-paid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funnel · conversion-killer if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automation_map field + Stripe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(NRR)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$ vs churn $ · SaaS-grade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subscriptions + invoice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$ / 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Growth-annual refund = 10× Starter 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priority order.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Refund-rate cliff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refund early matters more than 10 in steady state. Aggressive scoping on discovery &gt; forcing a marginal customer through onboarding.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9441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24912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9504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8163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commoditization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816352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Cowork + OpenAI Agent target the substrate. Compete on outcome + accountability, not the agent itself.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1109441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66744"/>
            <a:ext cx="9144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31336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75818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bandwidth cap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758184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Jon's 6–8 calls/week × close-rate caps revenue at ~10 active customers. Unblock with hire #1 by end of Q2.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1109441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08576"/>
            <a:ext cx="9144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73168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70001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failed delivery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700016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referral networks tight; one missed 30-day promise lands in a Slack thread. Ship a 'war room' framework for any deal at risk by day 21.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1109441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550408"/>
            <a:ext cx="91440" cy="777240"/>
          </a:xfrm>
          <a:prstGeom prst="rect">
            <a:avLst/>
          </a:prstGeom>
          <a:solidFill>
            <a:srgbClr val="5B627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715000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5641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Pricing-toggle copy drift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5641848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audit found 3 places showed different prices. Re-occurs on every price change. Extend lint scripts to check pricing consistency.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AI · Business strategy v2 · 2026-04-29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D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sells the only thing AI tools can't: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F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certainty that someone else owns the outcome.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466344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A2233"/>
          </a:solidFill>
          <a:ln w="12700">
            <a:solidFill>
              <a:srgbClr val="1F4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30-day guarantee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466344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A2233"/>
          </a:solidFill>
          <a:ln w="12700">
            <a:solidFill>
              <a:srgbClr val="1F4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Done-for-you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466344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A2233"/>
          </a:solidFill>
          <a:ln w="12700">
            <a:solidFill>
              <a:srgbClr val="1F4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Human-managed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 v2 · 2026-04-29 · See BUSINESS-STRATEGY.md for the full doc.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Ramped AI — Business Strategy &amp; Competitive Analysis</dc:title>
  <dc:subject>Strategy review · 2026-04-29</dc:subject>
  <dc:creator>Ramped AI</dc:creator>
  <cp:lastModifiedBy>Ramped AI</cp:lastModifiedBy>
  <cp:revision>1</cp:revision>
  <dcterms:created xsi:type="dcterms:W3CDTF">2026-04-30T00:40:43Z</dcterms:created>
  <dcterms:modified xsi:type="dcterms:W3CDTF">2026-04-30T00:40:43Z</dcterms:modified>
</cp:coreProperties>
</file>